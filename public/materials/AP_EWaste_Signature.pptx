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modeled generation</c:v>
                </c:pt>
              </c:strCache>
            </c:strRef>
          </c:tx>
          <c:spPr>
            <a:solidFill>
              <a:srgbClr val="C169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1E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IT &amp; Telecom</c:v>
                  </c:pt>
                  <c:pt idx="1">
                    <c:v>Consumer Electronics</c:v>
                  </c:pt>
                  <c:pt idx="2">
                    <c:v>Large &amp; Small Equipment</c:v>
                  </c:pt>
                  <c:pt idx="3">
                    <c:v>Batteries</c:v>
                  </c:pt>
                  <c:pt idx="4">
                    <c:v>Lighting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9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E1E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E1E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2EA"/>
        </a:solidFill>
        <a:ln>
          <a:noFill/>
        </a:ln>
        <a:effectLst/>
      </c:spPr>
    </c:plotArea>
    <c:plotVisOnly val="1"/>
    <c:dispBlanksAs val="span"/>
  </c:chart>
  <c:spPr>
    <a:solidFill>
      <a:srgbClr val="FBF2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063240" cy="292608"/>
          </a:xfrm>
          <a:prstGeom prst="roundRect">
            <a:avLst>
              <a:gd name="adj" fmla="val 18750"/>
            </a:avLst>
          </a:prstGeom>
          <a:solidFill>
            <a:srgbClr val="6B33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AP E-WASTE DIAGNOSTIC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68512" y="3200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1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2024–25   •   26 DISTRICTS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E-Waste Signature of Andhra Pradesh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state-specific adaptation of the reference ‘E-Waste Signature’ slide — built from the AP coursework tracker.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0" cy="688086"/>
          </a:xfrm>
          <a:prstGeom prst="roundRect">
            <a:avLst>
              <a:gd name="adj" fmla="val 10631"/>
            </a:avLst>
          </a:prstGeom>
          <a:solidFill>
            <a:srgbClr val="FBF2EA"/>
          </a:solidFill>
          <a:ln/>
          <a:effectLst>
            <a:outerShdw sx="100000" sy="100000" kx="0" ky="0" algn="bl" rotWithShape="0" blurRad="76200" dist="25400" dir="5400000">
              <a:srgbClr val="1A242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" y="1889379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1694A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88937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764792"/>
            <a:ext cx="2926080" cy="3578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60,232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2049445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C1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/ YEAR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2250613"/>
            <a:ext cx="2926080" cy="17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Coursework-modeled generation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44318"/>
            <a:ext cx="3657600" cy="688086"/>
          </a:xfrm>
          <a:prstGeom prst="roundRect">
            <a:avLst>
              <a:gd name="adj" fmla="val 10631"/>
            </a:avLst>
          </a:prstGeom>
          <a:solidFill>
            <a:srgbClr val="FBF2EA"/>
          </a:solidFill>
          <a:ln/>
          <a:effectLst>
            <a:outerShdw sx="100000" sy="100000" kx="0" ky="0" algn="bl" rotWithShape="0" blurRad="76200" dist="25400" dir="5400000">
              <a:srgbClr val="1A242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" y="2742057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169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7420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617470"/>
            <a:ext cx="2926080" cy="3578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2902123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C1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+ CONSUMER ELECTRONICS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3103291"/>
            <a:ext cx="2926080" cy="17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material signature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96996"/>
            <a:ext cx="3657600" cy="688086"/>
          </a:xfrm>
          <a:prstGeom prst="roundRect">
            <a:avLst>
              <a:gd name="adj" fmla="val 10631"/>
            </a:avLst>
          </a:prstGeom>
          <a:solidFill>
            <a:srgbClr val="FBF2EA"/>
          </a:solidFill>
          <a:ln/>
          <a:effectLst>
            <a:outerShdw sx="100000" sy="100000" kx="0" ky="0" algn="bl" rotWithShape="0" blurRad="76200" dist="25400" dir="5400000">
              <a:srgbClr val="1A242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3594735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0932E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5947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470148"/>
            <a:ext cx="2926080" cy="3578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9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5.42M kg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3754801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C1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3955969"/>
            <a:ext cx="2926080" cy="17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collection stream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49674"/>
            <a:ext cx="3657600" cy="688086"/>
          </a:xfrm>
          <a:prstGeom prst="roundRect">
            <a:avLst>
              <a:gd name="adj" fmla="val 10631"/>
            </a:avLst>
          </a:prstGeom>
          <a:solidFill>
            <a:srgbClr val="FBF2EA"/>
          </a:solidFill>
          <a:ln/>
          <a:effectLst>
            <a:outerShdw sx="100000" sy="100000" kx="0" ky="0" algn="bl" rotWithShape="0" blurRad="76200" dist="25400" dir="5400000">
              <a:srgbClr val="1A242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" y="4447413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1694A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" y="444741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322826"/>
            <a:ext cx="2926080" cy="3578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3.05M kg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24128" y="4607479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C1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SPSR NELLORE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4128" y="4808647"/>
            <a:ext cx="2926080" cy="17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modeled district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34840" y="1691640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2E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SIGNATURE  |  SHARE OF MODELED E-WASTE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34840" y="1965960"/>
            <a:ext cx="7296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source slide’s chemical-concentration chart, the AP tracker does not contain pollutant concentration data — this uses the defensible AP material-composition signature instead.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70248" y="2258568"/>
            <a:ext cx="7626096" cy="2843784"/>
          </a:xfrm>
          <a:prstGeom prst="roundRect">
            <a:avLst>
              <a:gd name="adj" fmla="val 1929"/>
            </a:avLst>
          </a:prstGeom>
          <a:solidFill>
            <a:srgbClr val="FBF2EA"/>
          </a:solidFill>
          <a:ln w="15875">
            <a:solidFill>
              <a:srgbClr val="C1694A"/>
            </a:solidFill>
            <a:prstDash val="solid"/>
          </a:ln>
          <a:effectLst>
            <a:outerShdw sx="100000" sy="100000" kx="0" ky="0" algn="bl" rotWithShape="0" blurRad="76200" dist="25400" dir="5400000">
              <a:srgbClr val="2E1E17">
                <a:alpha val="10000"/>
              </a:srgbClr>
            </a:outerShdw>
          </a:effectLst>
        </p:spPr>
      </p:sp>
      <p:graphicFrame>
        <p:nvGraphicFramePr>
          <p:cNvPr id="34" name="Chart 0" descr=""/>
          <p:cNvGraphicFramePr/>
          <p:nvPr/>
        </p:nvGraphicFramePr>
        <p:xfrm>
          <a:off x="4434840" y="2423160"/>
          <a:ext cx="7296912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457200" y="5138928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6B3327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5266944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75" kern="0" dirty="0">
                <a:solidFill>
                  <a:srgbClr val="E09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SIGNATURE SAYS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1520" y="5522976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intervention opportunity is upstream: capture high-volume IT/consumer streams and battery waste before they leak into informal handling.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7818120" y="5285232"/>
            <a:ext cx="0" cy="758952"/>
          </a:xfrm>
          <a:prstGeom prst="line">
            <a:avLst/>
          </a:prstGeom>
          <a:noFill/>
          <a:ln w="12700">
            <a:solidFill>
              <a:srgbClr val="C169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92440" y="526694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75" kern="0" dirty="0">
                <a:solidFill>
                  <a:srgbClr val="E09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GENERATORS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092440" y="5522976"/>
            <a:ext cx="2086295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SPSR Nellore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111435" y="5522976"/>
            <a:ext cx="13459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3.05M kg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092440" y="5745480"/>
            <a:ext cx="2086295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Kurnool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111435" y="5745480"/>
            <a:ext cx="13459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2.81M kg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092440" y="5967984"/>
            <a:ext cx="2086295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Ananthapuramu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111435" y="5967984"/>
            <a:ext cx="134599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2.77M kg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32764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i="1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SOURCE: </a:t>
            </a:r>
            <a:pPr algn="l" indent="0" marL="0">
              <a:buNone/>
            </a:pPr>
            <a:r>
              <a:rPr lang="en-US" sz="850" i="1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AP_EWaste_Tracker.xlsx + AP_EWaste_SDG_Report. Generation figures are population-weighted coursework estimates, not district-wise official published figures.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57200" y="65471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i="1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CHECK: </a:t>
            </a:r>
            <a:pPr algn="l" indent="0" marL="0">
              <a:buNone/>
            </a:pPr>
            <a:r>
              <a:rPr lang="en-US" sz="850" i="1" dirty="0">
                <a:solidFill>
                  <a:srgbClr val="8A6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PIB/MoEFCC reports 5 registered AP e-waste recyclers in FY 2024–25 and 148.969 MT processed that year.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579412C4-E412-482A-8155-87A80FFE480D}"/>
</file>

<file path=customXml/itemProps2.xml><?xml version="1.0" encoding="utf-8"?>
<ds:datastoreItem xmlns:ds="http://schemas.openxmlformats.org/officeDocument/2006/customXml" ds:itemID="{909763F0-EE5B-4D76-AE0A-28236C59689A}"/>
</file>

<file path=customXml/itemProps3.xml><?xml version="1.0" encoding="utf-8"?>
<ds:datastoreItem xmlns:ds="http://schemas.openxmlformats.org/officeDocument/2006/customXml" ds:itemID="{2699241F-6809-465B-A6B2-E5779F86437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2026-08-25T16:19:44Z</dcterms:created>
  <dcterms:modified xsi:type="dcterms:W3CDTF">2026-08-25T16:19:44Z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