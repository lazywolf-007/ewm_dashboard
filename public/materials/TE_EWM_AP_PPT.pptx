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3EFE6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F3EFE6"/>
                </a:solidFill>
                <a:latin typeface="Calibri"/>
              </a:rPr>
              <a:t>Total E-Waste Generated — Top Districts (t/yr, modeled)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generated (tonnes)</c:v>
                </c:pt>
              </c:strCache>
            </c:strRef>
          </c:tx>
          <c:spPr>
            <a:solidFill>
              <a:srgbClr val="9CBF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3EFE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SPSR Nellore</c:v>
                  </c:pt>
                  <c:pt idx="1">
                    <c:v>Kurnool</c:v>
                  </c:pt>
                  <c:pt idx="2">
                    <c:v>Ananthapuramu</c:v>
                  </c:pt>
                  <c:pt idx="3">
                    <c:v>NTR</c:v>
                  </c:pt>
                  <c:pt idx="4">
                    <c:v>Srikakulam</c:v>
                  </c:pt>
                  <c:pt idx="5">
                    <c:v>Tirupati</c:v>
                  </c:pt>
                  <c:pt idx="6">
                    <c:v>Sri Sathya Sai</c:v>
                  </c:pt>
                  <c:pt idx="7">
                    <c:v>Guntur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3054</c:v>
                </c:pt>
                <c:pt idx="1">
                  <c:v>2809</c:v>
                </c:pt>
                <c:pt idx="2">
                  <c:v>2771</c:v>
                </c:pt>
                <c:pt idx="3">
                  <c:v>2744</c:v>
                </c:pt>
                <c:pt idx="4">
                  <c:v>2710</c:v>
                </c:pt>
                <c:pt idx="5">
                  <c:v>2717</c:v>
                </c:pt>
                <c:pt idx="6">
                  <c:v>2275</c:v>
                </c:pt>
                <c:pt idx="7">
                  <c:v>2586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3EFE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3A312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B9AE9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3A312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3A312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B9AE9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B1712"/>
        </a:solidFill>
        <a:ln>
          <a:noFill/>
        </a:ln>
        <a:effectLst/>
      </c:spPr>
    </c:plotArea>
    <c:plotVisOnly val="1"/>
    <c:dispBlanksAs val="span"/>
  </c:chart>
  <c:spPr>
    <a:solidFill>
      <a:srgbClr val="1B1712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1712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B1712"/>
                </a:solidFill>
                <a:latin typeface="Calibri"/>
              </a:rPr>
              <a:t>Installed Capacity vs. Actual Throughput (tonnes/yr)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Installed capacity</c:v>
                </c:pt>
              </c:strCache>
            </c:strRef>
          </c:tx>
          <c:spPr>
            <a:solidFill>
              <a:srgbClr val="D8D0B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71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Statewide (10 recyclers)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44003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Actually processed</c:v>
                </c:pt>
              </c:strCache>
            </c:strRef>
          </c:tx>
          <c:spPr>
            <a:solidFill>
              <a:srgbClr val="C855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71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Statewide (10 recyclers)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30802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171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9C0AC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534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DEC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C9C0AC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534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B5346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SPEAKING SCRIPT (≈20s): "E-waste doesn't disappear when we throw it away. In 2022 alone, the world generated 62 million tonnes of electronic waste — and only 22.3 percent of it was formally collected and recycled, according to the UN's Global E-waste Monitor 2024. The rest goes somewhere. Tonight, I want to trace exactly where."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SPEAKING SCRIPT (≈22s): "Here's the pathway. E-waste gets informally dismantled — often by hand, often burned — releasing heavy metals like lead, cadmium and mercury. Those metals don't stay put: they leach into soil, move into groundwater and rivers, and enter ecosystems and people. WHO has identified over a thousand harmful substances released this way. And our own Andhra Pradesh tracker models exactly this — a Visakhapatnam site where lead exceeded safe limits."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SPEAKING SCRIPT (≈20s): "Zooming into our case study state — Andhra Pradesh models 60,232 tonnes of e-waste a year across 48.7 million people. IT and telecom gear plus consumer electronics drive almost two-thirds of it. The heaviest-generating districts are SPSR Nellore, Kurnool and Ananthapuramu — dense population, dense discard."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SPEAKING SCRIPT (≈22s): "Here's the gap nobody expects. Andhra Pradesh already has ten CPCB-authorised recyclers with capacity for 44,000 tonnes a year. But only about 31,000 tonnes actually get processed — 70 percent utilisation. The bottleneck isn't recycling technology, it's collection logistics. Formal capacity is sitting idle while waste leaks into the informal sector instead."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SPEAKING SCRIPT (≈20s): "This is the human cost. WHO has catalogued over a thousand hazardous substances released by informal e-waste recycling. In our AP model, 285 informal workers work across five scrap clusters — fewer than a third are registered or trained. And a modeled monitoring visit in Visakhapatnam found lead exceeding safe limits, triggering health screening for 180 residents. This isn't abstract — it's a specific, mappable pathway."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SPEAKING SCRIPT (≈20s): "Three interventions, grounded in our own data: close the collection gap with aggregation hubs, formalise informal labour the way Chittoor already has, and enforce EPR and monitoring at the source — before contamination reaches groundwater. Because the truth is simple: e-waste does not disappear when we throw it away. It moves — through soil, water, ecosystems, and people."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3200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9CB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E-WASTE: THE ANATOMY OF ECOSYSTEM CONTAMINATION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8686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5400" b="1" dirty="0">
                <a:solidFill>
                  <a:srgbClr val="F3EFE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E-WASTE </a:t>
            </a:r>
            <a:pPr algn="l" indent="0" marL="0">
              <a:lnSpc>
                <a:spcPts val="5600"/>
              </a:lnSpc>
              <a:buNone/>
            </a:pPr>
            <a:r>
              <a:rPr lang="en-US" sz="5400" b="1" dirty="0">
                <a:solidFill>
                  <a:srgbClr val="C855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DOESN'T</a:t>
            </a:r>
            <a:endParaRPr lang="en-US" sz="5400" dirty="0"/>
          </a:p>
          <a:p>
            <a:pPr algn="l" indent="0" marL="0">
              <a:lnSpc>
                <a:spcPts val="5600"/>
              </a:lnSpc>
              <a:buNone/>
            </a:pPr>
            <a:r>
              <a:rPr lang="en-US" sz="5400" b="1" dirty="0">
                <a:solidFill>
                  <a:srgbClr val="C855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DISAPPEAR.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8001000" y="2240280"/>
            <a:ext cx="3931920" cy="3931920"/>
          </a:xfrm>
          <a:prstGeom prst="ellipse">
            <a:avLst/>
          </a:prstGeom>
          <a:solidFill>
            <a:srgbClr val="C8552D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549640" y="2788920"/>
            <a:ext cx="2834640" cy="2834640"/>
          </a:xfrm>
          <a:prstGeom prst="ellipse">
            <a:avLst/>
          </a:prstGeom>
          <a:solidFill>
            <a:srgbClr val="C8552D">
              <a:alpha val="1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052560" y="3291840"/>
            <a:ext cx="1828800" cy="1828800"/>
          </a:xfrm>
          <a:prstGeom prst="ellipse">
            <a:avLst/>
          </a:prstGeom>
          <a:solidFill>
            <a:srgbClr val="9CBF3A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509760" y="3749040"/>
            <a:ext cx="914400" cy="914400"/>
          </a:xfrm>
          <a:prstGeom prst="ellipse">
            <a:avLst/>
          </a:prstGeom>
          <a:solidFill>
            <a:srgbClr val="9CBF3A">
              <a:alpha val="5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857232" y="4096512"/>
            <a:ext cx="219456" cy="219456"/>
          </a:xfrm>
          <a:prstGeom prst="ellipse">
            <a:avLst/>
          </a:prstGeom>
          <a:solidFill>
            <a:srgbClr val="F3EFE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4290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3EFE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62 MILLION TONNES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40080" y="4251960"/>
            <a:ext cx="6949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9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e-waste generated worldwide in 2022 — only 22.3% was formally collected and recycled. The rest: landfilled, informally scrapped, or burned.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0080" y="5989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Tejas Pawar  |  24102B0033  |  TE-CMPN B  —  E-Waste Management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B9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The Global E-waste Monitor 2024 — ITU &amp; UNITAR (SCYCLE Programme)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3200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7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CONTAMINATION PATHWAY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8755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discarded circuit board to a human bloodstream — six steps, no barrier between them.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15468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C855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468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5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2761488"/>
            <a:ext cx="14005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17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E-WASTE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17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DISCARDED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186940" y="2862072"/>
            <a:ext cx="320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C9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506980" y="2377440"/>
            <a:ext cx="15468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C855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16708" y="2468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5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80132" y="2761488"/>
            <a:ext cx="14005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17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INFORMAL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17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DISMANTLING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053840" y="2862072"/>
            <a:ext cx="320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C9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373880" y="2377440"/>
            <a:ext cx="15468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C855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3608" y="2468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5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47032" y="2761488"/>
            <a:ext cx="14005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17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HEAVY METALS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17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RELEASED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920740" y="2862072"/>
            <a:ext cx="320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C9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240780" y="2377440"/>
            <a:ext cx="15468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9CBF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0508" y="2468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B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13932" y="2761488"/>
            <a:ext cx="14005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17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SOIL &amp;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17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LEACHATE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787640" y="2862072"/>
            <a:ext cx="320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C9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107680" y="2377440"/>
            <a:ext cx="15468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9CBF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17408" y="2468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B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180832" y="2761488"/>
            <a:ext cx="14005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17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GROUNDWATER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17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&amp; RIVERS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654540" y="2862072"/>
            <a:ext cx="320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C9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9974580" y="2377440"/>
            <a:ext cx="1546860" cy="1371600"/>
          </a:xfrm>
          <a:prstGeom prst="roundRect">
            <a:avLst>
              <a:gd name="adj" fmla="val 4000"/>
            </a:avLst>
          </a:prstGeom>
          <a:solidFill>
            <a:srgbClr val="1B1712"/>
          </a:solidFill>
          <a:ln w="19050">
            <a:solidFill>
              <a:srgbClr val="1B171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84308" y="2468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047732" y="2761488"/>
            <a:ext cx="14005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3EFE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ECOSYSTEMS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3EFE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&amp; HUMANS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0080" y="4114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B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actually moving: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(Pb), cadmium (Cd), mercury (Hg), and brominated flame retardants — WHO identifies over 1,000 harmful substances released by informal e-waste recycling.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0080" y="48920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i="1" dirty="0">
                <a:solidFill>
                  <a:srgbClr val="C85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 link: </a:t>
            </a:r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5B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tracker's Visakhapatnam cluster monitoring visit recorded lead (Pb) exceeding permissible soil/water limits — a project-modeled illustration of this exact pathway, not an official APPCB finding.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B9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WHO, "Children and Digital Dumpsites: E-waste and Health" (2024) · AP figure: AP_EWaste_Tracker.xlsx, Sheet 6 (project-modeled/illustrative)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3200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EFE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CASE STUDY — ANDHRA PRADESH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9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districts · 48.7 million people tracked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C855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60,232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CB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TONNES OF E-WASTE GENERATED PER YEAR (MODELED)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9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&amp; Telecom equipment and Consumer Electronics together drive 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3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9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this total; battery waste alone accounts for 5.42 million kg needing priority collection.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4572000"/>
            <a:ext cx="4663440" cy="0"/>
          </a:xfrm>
          <a:prstGeom prst="line">
            <a:avLst/>
          </a:prstGeom>
          <a:noFill/>
          <a:ln w="12700">
            <a:solidFill>
              <a:srgbClr val="3A31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7091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3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generating districts: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9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SPSR Nellore (3.05M kg) → Kurnool (2.81M kg) → Ananthapuramu (2.77M kg).</a:t>
            </a:r>
            <a:endParaRPr lang="en-US" sz="12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5806440" y="1417320"/>
          <a:ext cx="5715000" cy="4709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B9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AP_EWaste_Tracker.xlsx, Sheet 1 — population-weighted model (2011 Census districts, reapportioned) · CPCB per-capita benchmarks. No district-wise official figure is published.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3200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7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SURPRISING GAP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Andhra Pradesh has real, CPCB-authorised recycling capacity. It isn't being used.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C855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70%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UTILISATION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4480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3A3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CPCB-authorised recyclers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A3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AP can process 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3A3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44,003 tonnes/yr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A3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but only 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3A3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30,802 tonnes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A3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actually reach them. The gap isn't capacity — it's collection.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489204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7A7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single facility: Veera Waste Management Systems, Visakhapatnam (5,820 t/yr authorised).</a:t>
            </a:r>
            <a:endParaRPr lang="en-US" sz="11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577840" y="1600200"/>
          <a:ext cx="59436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5577840" y="50749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7A7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scorecard: Formal Recycling &amp; Treatment scores 14.6 / 20 (73%) on the state's 100-point tracker.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B9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CPCB, List of Authorised E-waste Dismantlers/Recyclers (as on 08-06-2023) — cross-verified against AP_EWaste_Tracker.xlsx, Sheet 3. Figures used here are the source spreadsheet's own recycler-level rows (44,003 t / 30,802 t); the submitted SDG report cites different totals (88,005 t / 33,881 t) that do not reconcile to any row in the dataset.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3200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EFE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ENVIRONMENT + HUMAN IMPACT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9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uncollected 30% of e-waste actually goes.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3429000" cy="4206240"/>
          </a:xfrm>
          <a:prstGeom prst="roundRect">
            <a:avLst>
              <a:gd name="adj" fmla="val 1600"/>
            </a:avLst>
          </a:prstGeom>
          <a:solidFill>
            <a:srgbClr val="241E17"/>
          </a:solidFill>
          <a:ln w="12700">
            <a:solidFill>
              <a:srgbClr val="3A31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920240"/>
            <a:ext cx="2916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CBF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1,000+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96112" y="2770632"/>
            <a:ext cx="2916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spc="50" kern="0" dirty="0">
                <a:solidFill>
                  <a:srgbClr val="F3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HAZARDOUS SUBSTANCES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3337560"/>
            <a:ext cx="291693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9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in e-waste and informal-recycling emissions — lead, cadmium, mercury, brominated flame retardants (WHO, 2024).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600200"/>
            <a:ext cx="3429000" cy="4206240"/>
          </a:xfrm>
          <a:prstGeom prst="roundRect">
            <a:avLst>
              <a:gd name="adj" fmla="val 1600"/>
            </a:avLst>
          </a:prstGeom>
          <a:solidFill>
            <a:srgbClr val="241E17"/>
          </a:solidFill>
          <a:ln w="12700">
            <a:solidFill>
              <a:srgbClr val="3A31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9432" y="1920240"/>
            <a:ext cx="2916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855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285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599432" y="2770632"/>
            <a:ext cx="2916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spc="50" kern="0" dirty="0">
                <a:solidFill>
                  <a:srgbClr val="F3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WORKERS (AP MODEL)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99432" y="3337560"/>
            <a:ext cx="291693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9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across 5 regional scrap clusters in the tracker; only 85 (29.8%) are registered or trained.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1600200"/>
            <a:ext cx="3429000" cy="4206240"/>
          </a:xfrm>
          <a:prstGeom prst="roundRect">
            <a:avLst>
              <a:gd name="adj" fmla="val 1600"/>
            </a:avLst>
          </a:prstGeom>
          <a:solidFill>
            <a:srgbClr val="241E17"/>
          </a:solidFill>
          <a:ln w="12700">
            <a:solidFill>
              <a:srgbClr val="3A31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02752" y="1920240"/>
            <a:ext cx="2916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855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180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302752" y="2770632"/>
            <a:ext cx="2916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spc="50" kern="0" dirty="0">
                <a:solidFill>
                  <a:srgbClr val="F3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SCREENED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302752" y="3337560"/>
            <a:ext cx="291693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9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modeled Visakhapatnam cluster visit found lead (Pb) exceeding safe soil/water limits — project data, not an official APPCB record.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B9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WHO, "Children and Digital Dumpsites: E-waste and Health" (2024) · AP figures: AP_EWaste_Tracker.xlsx, Sheets 5–6 — project-modeled coursework estimates, not official SPCB/CPCB publications.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3200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EFE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BREAK THE CYCLE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3429000" cy="2468880"/>
          </a:xfrm>
          <a:prstGeom prst="roundRect">
            <a:avLst>
              <a:gd name="adj" fmla="val 2222"/>
            </a:avLst>
          </a:prstGeom>
          <a:solidFill>
            <a:srgbClr val="241E17"/>
          </a:solidFill>
          <a:ln w="12700">
            <a:solidFill>
              <a:srgbClr val="9CBF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4630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CBF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196596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3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COLLECTION GAP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56032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9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aggregation hubs in top-generating districts (SPSR Nellore, Kurnool) to route waste into the 30% of idle formal capacity.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1280160"/>
            <a:ext cx="3429000" cy="2468880"/>
          </a:xfrm>
          <a:prstGeom prst="roundRect">
            <a:avLst>
              <a:gd name="adj" fmla="val 2222"/>
            </a:avLst>
          </a:prstGeom>
          <a:solidFill>
            <a:srgbClr val="241E17"/>
          </a:solidFill>
          <a:ln w="12700">
            <a:solidFill>
              <a:srgbClr val="9CB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4630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CBF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0" y="196596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3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FORMALISE INFORMAL LABOUR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0" y="256032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9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the Chittoor cluster's 100% worker-formalization model statewide — protection first, not enforcement first.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1280160"/>
            <a:ext cx="3429000" cy="2468880"/>
          </a:xfrm>
          <a:prstGeom prst="roundRect">
            <a:avLst>
              <a:gd name="adj" fmla="val 2222"/>
            </a:avLst>
          </a:prstGeom>
          <a:solidFill>
            <a:srgbClr val="241E17"/>
          </a:solidFill>
          <a:ln w="12700">
            <a:solidFill>
              <a:srgbClr val="9CBF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75320" y="14630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CBF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275320" y="196596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3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+ MONITOR AT SOURCE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75320" y="256032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9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APPCB-led EPR audits and soil/water testing at known hotspots before contamination reaches groundwater.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114800"/>
            <a:ext cx="10881360" cy="0"/>
          </a:xfrm>
          <a:prstGeom prst="line">
            <a:avLst/>
          </a:prstGeom>
          <a:noFill/>
          <a:ln w="12700">
            <a:solidFill>
              <a:srgbClr val="3A31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3891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C855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E-WASTE DOES NOT DISAPPEAR WHEN WE THROW IT AWAY.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40080" y="51663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3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moves — through soil, water, ecosystems, and people.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B9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grounded in AP_EWaste_Tracker.xlsx findings (Sheets 3–5) and CPCB/APPCB regulatory structure.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9E45BCADE012848BADD84F0F5519C36" ma:contentTypeVersion="13" ma:contentTypeDescription="Create a new document." ma:contentTypeScope="" ma:versionID="749d6923f222eb45ac0dc6063575a178">
  <xsd:schema xmlns:xsd="http://www.w3.org/2001/XMLSchema" xmlns:xs="http://www.w3.org/2001/XMLSchema" xmlns:p="http://schemas.microsoft.com/office/2006/metadata/properties" xmlns:ns2="c49d017b-ac22-4c0b-a7a4-c8b9eca6cd70" xmlns:ns3="e0d206d7-ee7c-42da-b133-6e7342787b39" targetNamespace="http://schemas.microsoft.com/office/2006/metadata/properties" ma:root="true" ma:fieldsID="e99e7a50f06ef0e0bf1d9a36c1212498" ns2:_="" ns3:_="">
    <xsd:import namespace="c49d017b-ac22-4c0b-a7a4-c8b9eca6cd70"/>
    <xsd:import namespace="e0d206d7-ee7c-42da-b133-6e7342787b39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9d017b-ac22-4c0b-a7a4-c8b9eca6cd70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65c09e8c-4242-4efc-8aa0-958213fa9c5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d206d7-ee7c-42da-b133-6e7342787b39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35d6c0a8-0dd6-40f9-b8c8-aca075772b73}" ma:internalName="TaxCatchAll" ma:showField="CatchAllData" ma:web="e0d206d7-ee7c-42da-b133-6e7342787b3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49d017b-ac22-4c0b-a7a4-c8b9eca6cd70">
      <Terms xmlns="http://schemas.microsoft.com/office/infopath/2007/PartnerControls"/>
    </lcf76f155ced4ddcb4097134ff3c332f>
    <TaxCatchAll xmlns="e0d206d7-ee7c-42da-b133-6e7342787b39" xsi:nil="true"/>
    <ReferenceId xmlns="c49d017b-ac22-4c0b-a7a4-c8b9eca6cd70" xsi:nil="true"/>
  </documentManagement>
</p:properties>
</file>

<file path=customXml/itemProps1.xml><?xml version="1.0" encoding="utf-8"?>
<ds:datastoreItem xmlns:ds="http://schemas.openxmlformats.org/officeDocument/2006/customXml" ds:itemID="{2EF4D363-0C50-46BD-8D22-4707BC022836}"/>
</file>

<file path=customXml/itemProps2.xml><?xml version="1.0" encoding="utf-8"?>
<ds:datastoreItem xmlns:ds="http://schemas.openxmlformats.org/officeDocument/2006/customXml" ds:itemID="{8A8AACAA-3F95-4761-A668-C0D3320F4C44}"/>
</file>

<file path=customXml/itemProps3.xml><?xml version="1.0" encoding="utf-8"?>
<ds:datastoreItem xmlns:ds="http://schemas.openxmlformats.org/officeDocument/2006/customXml" ds:itemID="{F7A32B48-4836-4DF8-8B75-09BB3437D0D8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2026-08-11T10:05:42Z</dcterms:created>
  <dcterms:modified xsi:type="dcterms:W3CDTF">2026-08-11T10:05:42Z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0x01010029E45BCADE012848BADD84F0F5519C36</vt:lpwstr>
  </property>
</Properties>
</file>